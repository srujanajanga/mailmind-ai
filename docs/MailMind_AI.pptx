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one-line promise: an inbox that organises, prioritises and acts for you. Keep it to ~20 seconds before diving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the pain everyone feels: the inbox is a flat list with no sense of what matters. Set up the need for intelligence.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 that traditional filters are static rules — they tag, but they do not understand, rank or 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Position MailMind as five pillars working in one pipeline — not just a smarter filter, but an assistant that takes the next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objectives map directly to the five pillars; each is measurable through automation rate and classification accuracy.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left to right: data in, intelligence in the middle (NLP + ML, then context + behaviour), agentic insights out to the API and dashboard. A feedback loop writes user actions back to the store.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Emphasise this is a per-email pipeline; record_feedback() closes the loop so the system adapts over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card per pillar. Make clear these are complementary stages, not competing models.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Group by layer so the audience sees a coherent, production-shaped stack rather than a random tool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that the 12% ambiguity makes classes realistically overlapping — not artificially separable.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Logistic Regression edged out a calibrated Linear SVM and clearly beat the tree and Naive-Bayes baselines on sparse, high-dimensional 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confusion matrix shows errors cluster on genuinely ambiguous pairs, which is expected and acceptable. The +18.8 points over a keyword baseline is measured on the same test 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the live inbox — point out the priority ordering and the one-click suggested actions per email. Analytics and detail views also exist.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honest — time-saving is an illustrative estimate from the measured automation rate, not a human user study. Close on the vision.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-1463040"/>
            <a:ext cx="4023360" cy="4023360"/>
          </a:xfrm>
          <a:prstGeom prst="ellipse">
            <a:avLst/>
          </a:prstGeom>
          <a:solidFill>
            <a:srgbClr val="457B9D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39935" y="4206240"/>
            <a:ext cx="4206240" cy="4206240"/>
          </a:xfrm>
          <a:prstGeom prst="ellipse">
            <a:avLst/>
          </a:prstGeom>
          <a:solidFill>
            <a:srgbClr val="E63946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002975" y="640080"/>
            <a:ext cx="1188720" cy="1188720"/>
          </a:xfrm>
          <a:prstGeom prst="ellipse">
            <a:avLst/>
          </a:prstGeom>
          <a:solidFill>
            <a:srgbClr val="2A9D8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93392"/>
            <a:ext cx="10332720" cy="1280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6400" b="1" i="0">
                <a:solidFill>
                  <a:srgbClr val="FFFFFF"/>
                </a:solidFill>
                <a:latin typeface="Cambria"/>
              </a:rPr>
              <a:t>MailMind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46120"/>
            <a:ext cx="1033272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2700" b="0" i="1">
                <a:solidFill>
                  <a:srgbClr val="E9C46A"/>
                </a:solidFill>
                <a:latin typeface="Cambria"/>
              </a:rPr>
              <a:t>Your Inbox, Intelligently Organized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77639"/>
            <a:ext cx="1033272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600" b="0" i="0">
                <a:solidFill>
                  <a:srgbClr val="CADCFC"/>
                </a:solidFill>
                <a:latin typeface="Calibri"/>
              </a:rPr>
              <a:t>NLP  ·  Machine Learning  ·  Agentic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806440"/>
            <a:ext cx="1033272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300" b="0" i="0">
                <a:solidFill>
                  <a:srgbClr val="6C757D"/>
                </a:solidFill>
                <a:latin typeface="Calibri"/>
              </a:rPr>
              <a:t>Final-Year Project   |   Team: [Your Names]   |   Guide: [Faculty Guide]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0080" y="566928"/>
            <a:ext cx="237744" cy="237744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457200"/>
            <a:ext cx="7315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50" b="1" i="0">
                <a:solidFill>
                  <a:srgbClr val="E63946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" y="749808"/>
            <a:ext cx="1051560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000" b="1" i="0">
                <a:solidFill>
                  <a:srgbClr val="1D3557"/>
                </a:solidFill>
                <a:latin typeface="Cambria"/>
              </a:rPr>
              <a:t>Email Overload Is a Productivity Tax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6766560" cy="42062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marL="274320" indent="-274320">
              <a:lnSpc>
                <a:spcPct val="112000"/>
              </a:lnSpc>
              <a:spcAft>
                <a:spcPts val="1600"/>
              </a:spcAft>
              <a:buClr>
                <a:srgbClr val="E63946"/>
              </a:buClr>
              <a:buFont typeface="Arial"/>
              <a:buChar char="•"/>
            </a:pPr>
            <a:r>
              <a:rPr sz="1800" b="0" i="0">
                <a:solidFill>
                  <a:srgbClr val="212B36"/>
                </a:solidFill>
                <a:latin typeface="Calibri"/>
              </a:rPr>
              <a:t>Knowledge workers face dozens of emails every single day</a:t>
            </a:r>
          </a:p>
          <a:p>
            <a:pPr marL="274320" indent="-274320">
              <a:lnSpc>
                <a:spcPct val="112000"/>
              </a:lnSpc>
              <a:spcAft>
                <a:spcPts val="1600"/>
              </a:spcAft>
              <a:buClr>
                <a:srgbClr val="E63946"/>
              </a:buClr>
              <a:buFont typeface="Arial"/>
              <a:buChar char="•"/>
            </a:pPr>
            <a:r>
              <a:rPr sz="1800" b="0" i="0">
                <a:solidFill>
                  <a:srgbClr val="212B36"/>
                </a:solidFill>
                <a:latin typeface="Calibri"/>
              </a:rPr>
              <a:t>High cognitive load triaging each message manually</a:t>
            </a:r>
          </a:p>
          <a:p>
            <a:pPr marL="274320" indent="-274320">
              <a:lnSpc>
                <a:spcPct val="112000"/>
              </a:lnSpc>
              <a:spcAft>
                <a:spcPts val="1600"/>
              </a:spcAft>
              <a:buClr>
                <a:srgbClr val="E63946"/>
              </a:buClr>
              <a:buFont typeface="Arial"/>
              <a:buChar char="•"/>
            </a:pPr>
            <a:r>
              <a:rPr sz="1800" b="0" i="0">
                <a:solidFill>
                  <a:srgbClr val="212B36"/>
                </a:solidFill>
                <a:latin typeface="Calibri"/>
              </a:rPr>
              <a:t>Important and urgent mail gets buried under the noise</a:t>
            </a:r>
          </a:p>
          <a:p>
            <a:pPr marL="274320" indent="-274320">
              <a:lnSpc>
                <a:spcPct val="112000"/>
              </a:lnSpc>
              <a:spcAft>
                <a:spcPts val="1600"/>
              </a:spcAft>
              <a:buClr>
                <a:srgbClr val="E63946"/>
              </a:buClr>
              <a:buFont typeface="Arial"/>
              <a:buChar char="•"/>
            </a:pPr>
            <a:r>
              <a:rPr sz="1800" b="0" i="0">
                <a:solidFill>
                  <a:srgbClr val="212B36"/>
                </a:solidFill>
                <a:latin typeface="Calibri"/>
              </a:rPr>
              <a:t>Promotions, social and spam crowd out real priorities</a:t>
            </a:r>
          </a:p>
          <a:p>
            <a:pPr marL="274320" indent="-274320">
              <a:lnSpc>
                <a:spcPct val="112000"/>
              </a:lnSpc>
              <a:spcAft>
                <a:spcPts val="1600"/>
              </a:spcAft>
              <a:buClr>
                <a:srgbClr val="E63946"/>
              </a:buClr>
              <a:buFont typeface="Arial"/>
              <a:buChar char="•"/>
            </a:pPr>
            <a:r>
              <a:rPr sz="1800" b="0" i="0">
                <a:solidFill>
                  <a:srgbClr val="212B36"/>
                </a:solidFill>
                <a:latin typeface="Calibri"/>
              </a:rPr>
              <a:t>Traditional inboxes are flat lists with no sense of importance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920240"/>
            <a:ext cx="3200400" cy="384048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  <a:effectLst>
            <a:outerShdw blurRad="60000" dist="25000" dir="5400000" rotWithShape="0">
              <a:srgbClr val="1D27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2331720"/>
            <a:ext cx="2560320" cy="7132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4200" b="1" i="0">
                <a:solidFill>
                  <a:srgbClr val="E63946"/>
                </a:solidFill>
                <a:latin typeface="Cambria"/>
              </a:rPr>
              <a:t>40+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3182112"/>
            <a:ext cx="256032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0" i="0">
                <a:solidFill>
                  <a:srgbClr val="5B6672"/>
                </a:solidFill>
                <a:latin typeface="Calibri"/>
              </a:rPr>
              <a:t>emails received per 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3703320"/>
            <a:ext cx="2560320" cy="7132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4200" b="1" i="0">
                <a:solidFill>
                  <a:srgbClr val="1D3557"/>
                </a:solidFill>
                <a:latin typeface="Cambria"/>
              </a:rPr>
              <a:t>~28%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4553712"/>
            <a:ext cx="256032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0" i="0">
                <a:solidFill>
                  <a:srgbClr val="5B6672"/>
                </a:solidFill>
                <a:latin typeface="Calibri"/>
              </a:rPr>
              <a:t>of the workday spent in the inbox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4983480"/>
            <a:ext cx="256032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0" i="1">
                <a:solidFill>
                  <a:srgbClr val="5B6672"/>
                </a:solidFill>
                <a:latin typeface="Calibri"/>
              </a:rPr>
              <a:t>Attention is the scarce resource.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0080" y="566928"/>
            <a:ext cx="237744" cy="237744"/>
          </a:xfrm>
          <a:prstGeom prst="ellipse">
            <a:avLst/>
          </a:prstGeom>
          <a:solidFill>
            <a:srgbClr val="457B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457200"/>
            <a:ext cx="7315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50" b="1" i="0">
                <a:solidFill>
                  <a:srgbClr val="457B9D"/>
                </a:solidFill>
                <a:latin typeface="Calibri"/>
              </a:rPr>
              <a:t>EXISTING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" y="749808"/>
            <a:ext cx="1051560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000" b="1" i="0">
                <a:solidFill>
                  <a:srgbClr val="1D3557"/>
                </a:solidFill>
                <a:latin typeface="Cambria"/>
              </a:rPr>
              <a:t>Static Rules That Tag, But Don't Understand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920240"/>
            <a:ext cx="3383280" cy="178308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  <a:effectLst>
            <a:outerShdw blurRad="60000" dist="25000" dir="5400000" rotWithShape="0">
              <a:srgbClr val="1D27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24712" y="2176272"/>
            <a:ext cx="310896" cy="310896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81912" y="2121408"/>
            <a:ext cx="246888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550" b="1" i="0">
                <a:solidFill>
                  <a:srgbClr val="1D3557"/>
                </a:solidFill>
                <a:latin typeface="Cambria"/>
              </a:rPr>
              <a:t>Manual sorting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633472"/>
            <a:ext cx="283464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50" b="0" i="0">
                <a:solidFill>
                  <a:srgbClr val="5B6672"/>
                </a:solidFill>
                <a:latin typeface="Calibri"/>
              </a:rPr>
              <a:t>Slow, repetitive and error-prone; the user does all the work.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9160" y="1920240"/>
            <a:ext cx="3383280" cy="178308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  <a:effectLst>
            <a:outerShdw blurRad="60000" dist="25000" dir="5400000" rotWithShape="0">
              <a:srgbClr val="1D27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965192" y="2176272"/>
            <a:ext cx="310896" cy="310896"/>
          </a:xfrm>
          <a:prstGeom prst="ellipse">
            <a:avLst/>
          </a:prstGeom>
          <a:solidFill>
            <a:srgbClr val="457B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22392" y="2121408"/>
            <a:ext cx="246888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550" b="1" i="0">
                <a:solidFill>
                  <a:srgbClr val="1D3557"/>
                </a:solidFill>
                <a:latin typeface="Cambria"/>
              </a:rPr>
              <a:t>Keyword / rule filters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3480" y="2633472"/>
            <a:ext cx="283464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50" b="0" i="0">
                <a:solidFill>
                  <a:srgbClr val="5B6672"/>
                </a:solidFill>
                <a:latin typeface="Calibri"/>
              </a:rPr>
              <a:t>Brittle to new wording; easily fooled and quickly outdated.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49640" y="1920240"/>
            <a:ext cx="3383280" cy="178308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  <a:effectLst>
            <a:outerShdw blurRad="60000" dist="25000" dir="5400000" rotWithShape="0">
              <a:srgbClr val="1D27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805672" y="2176272"/>
            <a:ext cx="310896" cy="310896"/>
          </a:xfrm>
          <a:prstGeom prst="ellipse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62872" y="2121408"/>
            <a:ext cx="246888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550" b="1" i="0">
                <a:solidFill>
                  <a:srgbClr val="1D3557"/>
                </a:solidFill>
                <a:latin typeface="Cambria"/>
              </a:rPr>
              <a:t>No prioritisation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23960" y="2633472"/>
            <a:ext cx="283464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50" b="0" i="0">
                <a:solidFill>
                  <a:srgbClr val="5B6672"/>
                </a:solidFill>
                <a:latin typeface="Calibri"/>
              </a:rPr>
              <a:t>Cannot rank importance within legitimate mail.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3977639"/>
            <a:ext cx="3383280" cy="178308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  <a:effectLst>
            <a:outerShdw blurRad="60000" dist="25000" dir="5400000" rotWithShape="0">
              <a:srgbClr val="1D27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24712" y="4233672"/>
            <a:ext cx="310896" cy="310896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81912" y="4178807"/>
            <a:ext cx="246888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550" b="1" i="0">
                <a:solidFill>
                  <a:srgbClr val="1D3557"/>
                </a:solidFill>
                <a:latin typeface="Cambria"/>
              </a:rPr>
              <a:t>No learning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4690872"/>
            <a:ext cx="283464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50" b="0" i="0">
                <a:solidFill>
                  <a:srgbClr val="5B6672"/>
                </a:solidFill>
                <a:latin typeface="Calibri"/>
              </a:rPr>
              <a:t>Ignores how you actually open, reply, ignore or delete.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09160" y="3977639"/>
            <a:ext cx="3383280" cy="178308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  <a:effectLst>
            <a:outerShdw blurRad="60000" dist="25000" dir="5400000" rotWithShape="0">
              <a:srgbClr val="1D27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965192" y="4233672"/>
            <a:ext cx="310896" cy="310896"/>
          </a:xfrm>
          <a:prstGeom prst="ellipse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22392" y="4178807"/>
            <a:ext cx="246888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550" b="1" i="0">
                <a:solidFill>
                  <a:srgbClr val="1D3557"/>
                </a:solidFill>
                <a:latin typeface="Cambria"/>
              </a:rPr>
              <a:t>No assistance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83480" y="4690872"/>
            <a:ext cx="283464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50" b="0" i="0">
                <a:solidFill>
                  <a:srgbClr val="5B6672"/>
                </a:solidFill>
                <a:latin typeface="Calibri"/>
              </a:rPr>
              <a:t>Produces no summaries and suggests no next action.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0080" y="566928"/>
            <a:ext cx="237744" cy="237744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457200"/>
            <a:ext cx="7315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Calibri"/>
              </a:rPr>
              <a:t>PROPOSED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" y="749808"/>
            <a:ext cx="1051560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000" b="1" i="0">
                <a:solidFill>
                  <a:srgbClr val="1D3557"/>
                </a:solidFill>
                <a:latin typeface="Cambria"/>
              </a:rPr>
              <a:t>MailMind AI — An Agentic Email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627632"/>
            <a:ext cx="105156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600" b="0" i="1">
                <a:solidFill>
                  <a:srgbClr val="5B6672"/>
                </a:solidFill>
                <a:latin typeface="Calibri"/>
              </a:rPr>
              <a:t>Understands, prioritises and acts on your inbox — five pillars in one pipeline.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4583" y="2331720"/>
            <a:ext cx="2084831" cy="310896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  <a:effectLst>
            <a:outerShdw blurRad="60000" dist="25000" dir="5400000" rotWithShape="0">
              <a:srgbClr val="1D27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49527" y="2606040"/>
            <a:ext cx="694944" cy="694944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49527" y="2706624"/>
            <a:ext cx="694944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6023" y="3493008"/>
            <a:ext cx="1901951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500" b="1" i="0">
                <a:solidFill>
                  <a:srgbClr val="1D3557"/>
                </a:solidFill>
                <a:latin typeface="Cambria"/>
              </a:rPr>
              <a:t>Classification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4311" y="4041648"/>
            <a:ext cx="1865376" cy="11887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200" b="0" i="0">
                <a:solidFill>
                  <a:srgbClr val="5B6672"/>
                </a:solidFill>
                <a:latin typeface="Calibri"/>
              </a:rPr>
              <a:t>6-category ML model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04007" y="2331720"/>
            <a:ext cx="2084831" cy="310896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  <a:effectLst>
            <a:outerShdw blurRad="60000" dist="25000" dir="5400000" rotWithShape="0">
              <a:srgbClr val="1D27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98951" y="2606040"/>
            <a:ext cx="694944" cy="694944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98951" y="2706624"/>
            <a:ext cx="694944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95447" y="3493008"/>
            <a:ext cx="1901951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500" b="1" i="0">
                <a:solidFill>
                  <a:srgbClr val="1D3557"/>
                </a:solidFill>
                <a:latin typeface="Cambria"/>
              </a:rPr>
              <a:t>NLP Signals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13735" y="4041648"/>
            <a:ext cx="1865376" cy="11887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200" b="0" i="0">
                <a:solidFill>
                  <a:srgbClr val="5B6672"/>
                </a:solidFill>
                <a:latin typeface="Calibri"/>
              </a:rPr>
              <a:t>keywords · sentiment</a:t>
            </a:r>
            <a:br/>
            <a:r>
              <a:t>urgency · intent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53431" y="2331720"/>
            <a:ext cx="2084831" cy="310896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  <a:effectLst>
            <a:outerShdw blurRad="60000" dist="25000" dir="5400000" rotWithShape="0">
              <a:srgbClr val="1D27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748375" y="2606040"/>
            <a:ext cx="694944" cy="694944"/>
          </a:xfrm>
          <a:prstGeom prst="ellipse">
            <a:avLst/>
          </a:prstGeom>
          <a:solidFill>
            <a:srgbClr val="457B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48375" y="2706624"/>
            <a:ext cx="694944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44871" y="3493008"/>
            <a:ext cx="1901951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500" b="1" i="0">
                <a:solidFill>
                  <a:srgbClr val="1D3557"/>
                </a:solidFill>
                <a:latin typeface="Cambria"/>
              </a:rPr>
              <a:t>Context Priority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3159" y="4041648"/>
            <a:ext cx="1865376" cy="11887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200" b="0" i="0">
                <a:solidFill>
                  <a:srgbClr val="5B6672"/>
                </a:solidFill>
                <a:latin typeface="Calibri"/>
              </a:rPr>
              <a:t>sender · recency · VIP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02855" y="2331720"/>
            <a:ext cx="2084831" cy="310896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  <a:effectLst>
            <a:outerShdw blurRad="60000" dist="25000" dir="5400000" rotWithShape="0">
              <a:srgbClr val="1D27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997799" y="2606040"/>
            <a:ext cx="694944" cy="694944"/>
          </a:xfrm>
          <a:prstGeom prst="ellipse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97799" y="2706624"/>
            <a:ext cx="694944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4295" y="3493008"/>
            <a:ext cx="1901951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500" b="1" i="0">
                <a:solidFill>
                  <a:srgbClr val="1D3557"/>
                </a:solidFill>
                <a:latin typeface="Cambria"/>
              </a:rPr>
              <a:t>Behaviour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12583" y="4041648"/>
            <a:ext cx="1865376" cy="11887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200" b="0" i="0">
                <a:solidFill>
                  <a:srgbClr val="5B6672"/>
                </a:solidFill>
                <a:latin typeface="Calibri"/>
              </a:rPr>
              <a:t>learns from your actions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552279" y="2331720"/>
            <a:ext cx="2084831" cy="310896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  <a:effectLst>
            <a:outerShdw blurRad="60000" dist="25000" dir="5400000" rotWithShape="0">
              <a:srgbClr val="1D27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247223" y="2606040"/>
            <a:ext cx="694944" cy="694944"/>
          </a:xfrm>
          <a:prstGeom prst="ellipse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47223" y="2706624"/>
            <a:ext cx="694944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43719" y="3493008"/>
            <a:ext cx="1901951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500" b="1" i="0">
                <a:solidFill>
                  <a:srgbClr val="1D3557"/>
                </a:solidFill>
                <a:latin typeface="Cambria"/>
              </a:rPr>
              <a:t>Agentic Output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62007" y="4041648"/>
            <a:ext cx="1865376" cy="11887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200" b="0" i="0">
                <a:solidFill>
                  <a:srgbClr val="5B6672"/>
                </a:solidFill>
                <a:latin typeface="Calibri"/>
              </a:rPr>
              <a:t>summarise · suggest · flag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0080" y="566928"/>
            <a:ext cx="237744" cy="237744"/>
          </a:xfrm>
          <a:prstGeom prst="ellipse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457200"/>
            <a:ext cx="7315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50" b="1" i="0">
                <a:solidFill>
                  <a:srgbClr val="E9C46A"/>
                </a:solidFill>
                <a:latin typeface="Calibri"/>
              </a:rP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" y="749808"/>
            <a:ext cx="1051560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000" b="1" i="0">
                <a:solidFill>
                  <a:srgbClr val="1D3557"/>
                </a:solidFill>
                <a:latin typeface="Cambria"/>
              </a:rPr>
              <a:t>What the System Sets Out to Achieve</a:t>
            </a:r>
          </a:p>
        </p:txBody>
      </p:sp>
      <p:sp>
        <p:nvSpPr>
          <p:cNvPr id="5" name="Oval 4"/>
          <p:cNvSpPr/>
          <p:nvPr/>
        </p:nvSpPr>
        <p:spPr>
          <a:xfrm>
            <a:off x="868680" y="1837943"/>
            <a:ext cx="548640" cy="54864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92807"/>
            <a:ext cx="5486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783080"/>
            <a:ext cx="457200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900" b="1" i="0">
                <a:solidFill>
                  <a:srgbClr val="1D3557"/>
                </a:solidFill>
                <a:latin typeface="Cambria"/>
              </a:rPr>
              <a:t>Reduce cognitive load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194560"/>
            <a:ext cx="96926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400" b="0" i="0">
                <a:solidFill>
                  <a:srgbClr val="5B6672"/>
                </a:solidFill>
                <a:latin typeface="Calibri"/>
              </a:rPr>
              <a:t>Cut the effort of triaging a crowded inbox.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2715768"/>
            <a:ext cx="548640" cy="54864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770632"/>
            <a:ext cx="5486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660904"/>
            <a:ext cx="457200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900" b="1" i="0">
                <a:solidFill>
                  <a:srgbClr val="1D3557"/>
                </a:solidFill>
                <a:latin typeface="Cambria"/>
              </a:rPr>
              <a:t>Prioritise what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072384"/>
            <a:ext cx="96926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400" b="0" i="0">
                <a:solidFill>
                  <a:srgbClr val="5B6672"/>
                </a:solidFill>
                <a:latin typeface="Calibri"/>
              </a:rPr>
              <a:t>Rank mail by true importance and urgency.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3593592"/>
            <a:ext cx="548640" cy="548640"/>
          </a:xfrm>
          <a:prstGeom prst="ellipse">
            <a:avLst/>
          </a:prstGeom>
          <a:solidFill>
            <a:srgbClr val="457B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648456"/>
            <a:ext cx="5486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538728"/>
            <a:ext cx="457200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900" b="1" i="0">
                <a:solidFill>
                  <a:srgbClr val="1D3557"/>
                </a:solidFill>
                <a:latin typeface="Cambria"/>
              </a:rPr>
              <a:t>Personalise over 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950208"/>
            <a:ext cx="96926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400" b="0" i="0">
                <a:solidFill>
                  <a:srgbClr val="5B6672"/>
                </a:solidFill>
                <a:latin typeface="Calibri"/>
              </a:rPr>
              <a:t>Adapt ranking from each user's behaviour.</a:t>
            </a:r>
          </a:p>
        </p:txBody>
      </p:sp>
      <p:sp>
        <p:nvSpPr>
          <p:cNvPr id="17" name="Oval 16"/>
          <p:cNvSpPr/>
          <p:nvPr/>
        </p:nvSpPr>
        <p:spPr>
          <a:xfrm>
            <a:off x="868680" y="4471416"/>
            <a:ext cx="548640" cy="548640"/>
          </a:xfrm>
          <a:prstGeom prst="ellipse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526280"/>
            <a:ext cx="5486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4416552"/>
            <a:ext cx="457200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900" b="1" i="0">
                <a:solidFill>
                  <a:srgbClr val="1D3557"/>
                </a:solidFill>
                <a:latin typeface="Cambria"/>
              </a:rPr>
              <a:t>Be proactive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828032"/>
            <a:ext cx="96926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400" b="0" i="0">
                <a:solidFill>
                  <a:srgbClr val="5B6672"/>
                </a:solidFill>
                <a:latin typeface="Calibri"/>
              </a:rPr>
              <a:t>Summaries, urgent flags and suggested actions.</a:t>
            </a:r>
          </a:p>
        </p:txBody>
      </p:sp>
      <p:sp>
        <p:nvSpPr>
          <p:cNvPr id="21" name="Oval 20"/>
          <p:cNvSpPr/>
          <p:nvPr/>
        </p:nvSpPr>
        <p:spPr>
          <a:xfrm>
            <a:off x="868680" y="5349240"/>
            <a:ext cx="548640" cy="548640"/>
          </a:xfrm>
          <a:prstGeom prst="ellipse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404104"/>
            <a:ext cx="5486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5294376"/>
            <a:ext cx="457200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900" b="1" i="0">
                <a:solidFill>
                  <a:srgbClr val="1D3557"/>
                </a:solidFill>
                <a:latin typeface="Cambria"/>
              </a:rPr>
              <a:t>Improve productivity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5705856"/>
            <a:ext cx="96926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400" b="0" i="0">
                <a:solidFill>
                  <a:srgbClr val="5B6672"/>
                </a:solidFill>
                <a:latin typeface="Calibri"/>
              </a:rPr>
              <a:t>Surface the few emails that need action first.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0080" y="566928"/>
            <a:ext cx="237744" cy="237744"/>
          </a:xfrm>
          <a:prstGeom prst="ellipse">
            <a:avLst/>
          </a:prstGeom>
          <a:solidFill>
            <a:srgbClr val="457B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457200"/>
            <a:ext cx="7315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50" b="1" i="0">
                <a:solidFill>
                  <a:srgbClr val="457B9D"/>
                </a:solidFill>
                <a:latin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" y="749808"/>
            <a:ext cx="1051560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000" b="1" i="0">
                <a:solidFill>
                  <a:srgbClr val="1D3557"/>
                </a:solidFill>
                <a:latin typeface="Cambria"/>
              </a:rPr>
              <a:t>A Layered, Modular Python System</a:t>
            </a:r>
          </a:p>
        </p:txBody>
      </p:sp>
      <p:pic>
        <p:nvPicPr>
          <p:cNvPr id="5" name="Picture 4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8823" y="1600200"/>
            <a:ext cx="7803872" cy="4892040"/>
          </a:xfrm>
          <a:prstGeom prst="rect">
            <a:avLst/>
          </a:prstGeom>
          <a:effectLst>
            <a:outerShdw blurRad="60000" dist="25000" dir="5400000" rotWithShape="0">
              <a:srgbClr val="1D2733">
                <a:alpha val="18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0080" y="566928"/>
            <a:ext cx="237744" cy="237744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457200"/>
            <a:ext cx="7315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50" b="1" i="0">
                <a:solidFill>
                  <a:srgbClr val="E63946"/>
                </a:solidFill>
                <a:latin typeface="Calibri"/>
              </a:rPr>
              <a:t>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" y="749808"/>
            <a:ext cx="1051560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000" b="1" i="0">
                <a:solidFill>
                  <a:srgbClr val="1D3557"/>
                </a:solidFill>
                <a:latin typeface="Cambria"/>
              </a:rPr>
              <a:t>How One Email Flows Through MailMind</a:t>
            </a:r>
          </a:p>
        </p:txBody>
      </p:sp>
      <p:sp>
        <p:nvSpPr>
          <p:cNvPr id="5" name="Oval 4"/>
          <p:cNvSpPr/>
          <p:nvPr/>
        </p:nvSpPr>
        <p:spPr>
          <a:xfrm>
            <a:off x="914400" y="1783080"/>
            <a:ext cx="603504" cy="603504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37943"/>
            <a:ext cx="603504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746504"/>
            <a:ext cx="27432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000" b="1" i="0">
                <a:solidFill>
                  <a:srgbClr val="1D3557"/>
                </a:solidFill>
                <a:latin typeface="Cambria"/>
              </a:rPr>
              <a:t>Classify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801368"/>
            <a:ext cx="694944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500" b="0" i="0">
                <a:solidFill>
                  <a:srgbClr val="5B6672"/>
                </a:solidFill>
                <a:latin typeface="Calibri"/>
              </a:rPr>
              <a:t>ML model assigns one of six categories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679191"/>
            <a:ext cx="603504" cy="603504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734056"/>
            <a:ext cx="603504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2642615"/>
            <a:ext cx="27432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000" b="1" i="0">
                <a:solidFill>
                  <a:srgbClr val="1D3557"/>
                </a:solidFill>
                <a:latin typeface="Cambria"/>
              </a:rPr>
              <a:t>Analyse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697479"/>
            <a:ext cx="694944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500" b="0" i="0">
                <a:solidFill>
                  <a:srgbClr val="5B6672"/>
                </a:solidFill>
                <a:latin typeface="Calibri"/>
              </a:rPr>
              <a:t>NLP extracts keywords, sentiment, urgency, intent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3575304"/>
            <a:ext cx="603504" cy="603504"/>
          </a:xfrm>
          <a:prstGeom prst="ellipse">
            <a:avLst/>
          </a:prstGeom>
          <a:solidFill>
            <a:srgbClr val="457B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630168"/>
            <a:ext cx="603504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3538728"/>
            <a:ext cx="27432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000" b="1" i="0">
                <a:solidFill>
                  <a:srgbClr val="1D3557"/>
                </a:solidFill>
                <a:latin typeface="Cambria"/>
              </a:rPr>
              <a:t>Prioritise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593592"/>
            <a:ext cx="694944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500" b="0" i="0">
                <a:solidFill>
                  <a:srgbClr val="5B6672"/>
                </a:solidFill>
                <a:latin typeface="Calibri"/>
              </a:rPr>
              <a:t>Context scorer computes a 0–100 priority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4471416"/>
            <a:ext cx="603504" cy="603504"/>
          </a:xfrm>
          <a:prstGeom prst="ellipse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26279"/>
            <a:ext cx="603504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4434840"/>
            <a:ext cx="27432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000" b="1" i="0">
                <a:solidFill>
                  <a:srgbClr val="1D3557"/>
                </a:solidFill>
                <a:latin typeface="Cambria"/>
              </a:rPr>
              <a:t>Adapt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489703"/>
            <a:ext cx="694944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500" b="0" i="0">
                <a:solidFill>
                  <a:srgbClr val="5B6672"/>
                </a:solidFill>
                <a:latin typeface="Calibri"/>
              </a:rPr>
              <a:t>Behavioural layer adjusts from past actions</a:t>
            </a:r>
          </a:p>
        </p:txBody>
      </p:sp>
      <p:sp>
        <p:nvSpPr>
          <p:cNvPr id="21" name="Oval 20"/>
          <p:cNvSpPr/>
          <p:nvPr/>
        </p:nvSpPr>
        <p:spPr>
          <a:xfrm>
            <a:off x="914400" y="5367528"/>
            <a:ext cx="603504" cy="603504"/>
          </a:xfrm>
          <a:prstGeom prst="ellipse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422392"/>
            <a:ext cx="603504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83080" y="5330952"/>
            <a:ext cx="27432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000" b="1" i="0">
                <a:solidFill>
                  <a:srgbClr val="1D3557"/>
                </a:solidFill>
                <a:latin typeface="Cambria"/>
              </a:rPr>
              <a:t>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5385816"/>
            <a:ext cx="694944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500" b="0" i="0">
                <a:solidFill>
                  <a:srgbClr val="5B6672"/>
                </a:solidFill>
                <a:latin typeface="Calibri"/>
              </a:rPr>
              <a:t>Summarise, suggest actions, flag urgent / VIP / spam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6355080"/>
            <a:ext cx="107899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50" b="0" i="1">
                <a:solidFill>
                  <a:srgbClr val="2A9D8F"/>
                </a:solidFill>
                <a:latin typeface="Calibri"/>
              </a:rPr>
              <a:t>process_inbox() returns insights sorted by priority  ·  record_feedback() closes the loop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0080" y="566928"/>
            <a:ext cx="237744" cy="237744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457200"/>
            <a:ext cx="7315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Calibri"/>
              </a:rPr>
              <a:t>AI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" y="749808"/>
            <a:ext cx="1051560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000" b="1" i="0">
                <a:solidFill>
                  <a:srgbClr val="1D3557"/>
                </a:solidFill>
                <a:latin typeface="Cambria"/>
              </a:rPr>
              <a:t>Five Complementary Intelligence Layers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874519"/>
            <a:ext cx="3429000" cy="1874519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  <a:effectLst>
            <a:outerShdw blurRad="60000" dist="25000" dir="5400000" rotWithShape="0">
              <a:srgbClr val="1D27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24712" y="2130552"/>
            <a:ext cx="310896" cy="310896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81912" y="2075688"/>
            <a:ext cx="25146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550" b="1" i="0">
                <a:solidFill>
                  <a:srgbClr val="1D3557"/>
                </a:solidFill>
                <a:latin typeface="Cambria"/>
              </a:rPr>
              <a:t>Classification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587752"/>
            <a:ext cx="2880360" cy="100583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50" b="0" i="0">
                <a:solidFill>
                  <a:srgbClr val="5B6672"/>
                </a:solidFill>
                <a:latin typeface="Calibri"/>
              </a:rPr>
              <a:t>TF-IDF + engineered features → six categories at 91% accuracy.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874519"/>
            <a:ext cx="3429000" cy="1874519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  <a:effectLst>
            <a:outerShdw blurRad="60000" dist="25000" dir="5400000" rotWithShape="0">
              <a:srgbClr val="1D27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828032" y="2130552"/>
            <a:ext cx="310896" cy="310896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85232" y="2075688"/>
            <a:ext cx="25146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550" b="1" i="0">
                <a:solidFill>
                  <a:srgbClr val="1D3557"/>
                </a:solidFill>
                <a:latin typeface="Cambria"/>
              </a:rPr>
              <a:t>NLP Processing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587752"/>
            <a:ext cx="2880360" cy="100583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50" b="0" i="0">
                <a:solidFill>
                  <a:srgbClr val="5B6672"/>
                </a:solidFill>
                <a:latin typeface="Calibri"/>
              </a:rPr>
              <a:t>Keyword extraction, VADER sentiment, urgency and intent detection.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19" y="1874519"/>
            <a:ext cx="3429000" cy="1874519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  <a:effectLst>
            <a:outerShdw blurRad="60000" dist="25000" dir="5400000" rotWithShape="0">
              <a:srgbClr val="1D27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531351" y="2130552"/>
            <a:ext cx="310896" cy="310896"/>
          </a:xfrm>
          <a:prstGeom prst="ellipse">
            <a:avLst/>
          </a:prstGeom>
          <a:solidFill>
            <a:srgbClr val="457B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88551" y="2075688"/>
            <a:ext cx="25146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550" b="1" i="0">
                <a:solidFill>
                  <a:srgbClr val="1D3557"/>
                </a:solidFill>
                <a:latin typeface="Cambria"/>
              </a:rPr>
              <a:t>Behavioural Intelligence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2587752"/>
            <a:ext cx="2880360" cy="100583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50" b="0" i="0">
                <a:solidFill>
                  <a:srgbClr val="5B6672"/>
                </a:solidFill>
                <a:latin typeface="Calibri"/>
              </a:rPr>
              <a:t>Learns engagement from opens, replies, ignores and deletes.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4023360"/>
            <a:ext cx="3429000" cy="1874519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  <a:effectLst>
            <a:outerShdw blurRad="60000" dist="25000" dir="5400000" rotWithShape="0">
              <a:srgbClr val="1D27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24712" y="4279392"/>
            <a:ext cx="310896" cy="310896"/>
          </a:xfrm>
          <a:prstGeom prst="ellipse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81912" y="4224528"/>
            <a:ext cx="25146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550" b="1" i="0">
                <a:solidFill>
                  <a:srgbClr val="1D3557"/>
                </a:solidFill>
                <a:latin typeface="Cambria"/>
              </a:rPr>
              <a:t>Contextual Intelligence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4736592"/>
            <a:ext cx="2880360" cy="100583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50" b="0" i="0">
                <a:solidFill>
                  <a:srgbClr val="5B6672"/>
                </a:solidFill>
                <a:latin typeface="Calibri"/>
              </a:rPr>
              <a:t>Sender importance, recency and VIP signals → priority.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0" y="4023360"/>
            <a:ext cx="3429000" cy="1874519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  <a:effectLst>
            <a:outerShdw blurRad="60000" dist="25000" dir="5400000" rotWithShape="0">
              <a:srgbClr val="1D27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828032" y="4279392"/>
            <a:ext cx="310896" cy="310896"/>
          </a:xfrm>
          <a:prstGeom prst="ellipse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85232" y="4224528"/>
            <a:ext cx="25146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550" b="1" i="0">
                <a:solidFill>
                  <a:srgbClr val="1D3557"/>
                </a:solidFill>
                <a:latin typeface="Cambria"/>
              </a:rPr>
              <a:t>Agentic 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4736592"/>
            <a:ext cx="2880360" cy="100583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50" b="0" i="0">
                <a:solidFill>
                  <a:srgbClr val="5B6672"/>
                </a:solidFill>
                <a:latin typeface="Calibri"/>
              </a:rPr>
              <a:t>Summarises, suggests the next action and adapts over time.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0080" y="566928"/>
            <a:ext cx="237744" cy="237744"/>
          </a:xfrm>
          <a:prstGeom prst="ellipse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457200"/>
            <a:ext cx="7315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50" b="1" i="0">
                <a:solidFill>
                  <a:srgbClr val="1D3557"/>
                </a:solidFill>
                <a:latin typeface="Calibri"/>
              </a:rPr>
              <a:t>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" y="749808"/>
            <a:ext cx="1051560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000" b="1" i="0">
                <a:solidFill>
                  <a:srgbClr val="1D3557"/>
                </a:solidFill>
                <a:latin typeface="Cambria"/>
              </a:rPr>
              <a:t>A Production-Shaped Python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874519"/>
            <a:ext cx="3429000" cy="173736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  <a:effectLst>
            <a:outerShdw blurRad="60000" dist="25000" dir="5400000" rotWithShape="0">
              <a:srgbClr val="1D27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43000" y="2167127"/>
            <a:ext cx="292608" cy="292608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81912" y="2112263"/>
            <a:ext cx="256032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550" b="1" i="0">
                <a:solidFill>
                  <a:srgbClr val="1D3557"/>
                </a:solidFill>
                <a:latin typeface="Cambria"/>
              </a:rPr>
              <a:t>Core ML /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2660903"/>
            <a:ext cx="2834640" cy="868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0" i="0">
                <a:solidFill>
                  <a:srgbClr val="5B6672"/>
                </a:solidFill>
                <a:latin typeface="Calibri"/>
              </a:rPr>
              <a:t>scikit-learn · numpy · pandas · scipy · joblib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874519"/>
            <a:ext cx="3429000" cy="173736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  <a:effectLst>
            <a:outerShdw blurRad="60000" dist="25000" dir="5400000" rotWithShape="0">
              <a:srgbClr val="1D27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846320" y="2167127"/>
            <a:ext cx="292608" cy="292608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85232" y="2112263"/>
            <a:ext cx="256032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550" b="1" i="0">
                <a:solidFill>
                  <a:srgbClr val="1D3557"/>
                </a:solidFill>
                <a:latin typeface="Cambria"/>
              </a:rPr>
              <a:t>NLP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64608" y="2660903"/>
            <a:ext cx="2834640" cy="868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0" i="0">
                <a:solidFill>
                  <a:srgbClr val="5B6672"/>
                </a:solidFill>
                <a:latin typeface="Calibri"/>
              </a:rPr>
              <a:t>NLTK (VADER, punkt, WordNet) · optional spaCy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19" y="1874519"/>
            <a:ext cx="3429000" cy="173736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  <a:effectLst>
            <a:outerShdw blurRad="60000" dist="25000" dir="5400000" rotWithShape="0">
              <a:srgbClr val="1D27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549640" y="2167127"/>
            <a:ext cx="292608" cy="292608"/>
          </a:xfrm>
          <a:prstGeom prst="ellipse">
            <a:avLst/>
          </a:prstGeom>
          <a:solidFill>
            <a:srgbClr val="457B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88551" y="2112263"/>
            <a:ext cx="256032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550" b="1" i="0">
                <a:solidFill>
                  <a:srgbClr val="1D3557"/>
                </a:solidFill>
                <a:latin typeface="Cambria"/>
              </a:rPr>
              <a:t>Backend /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67928" y="2660903"/>
            <a:ext cx="2834640" cy="868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0" i="0">
                <a:solidFill>
                  <a:srgbClr val="5B6672"/>
                </a:solidFill>
                <a:latin typeface="Calibri"/>
              </a:rPr>
              <a:t>FastAPI · uvicorn · pydantic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3886200"/>
            <a:ext cx="3429000" cy="173736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  <a:effectLst>
            <a:outerShdw blurRad="60000" dist="25000" dir="5400000" rotWithShape="0">
              <a:srgbClr val="1D27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43000" y="4178808"/>
            <a:ext cx="292608" cy="292608"/>
          </a:xfrm>
          <a:prstGeom prst="ellipse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81912" y="4123944"/>
            <a:ext cx="256032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550" b="1" i="0">
                <a:solidFill>
                  <a:srgbClr val="1D3557"/>
                </a:solidFill>
                <a:latin typeface="Cambria"/>
              </a:rPr>
              <a:t>Frontend / Viz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61288" y="4672584"/>
            <a:ext cx="2834640" cy="868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0" i="0">
                <a:solidFill>
                  <a:srgbClr val="5B6672"/>
                </a:solidFill>
                <a:latin typeface="Calibri"/>
              </a:rPr>
              <a:t>Streamlit · altair · matplotlib · seaborn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0" y="3886200"/>
            <a:ext cx="3429000" cy="173736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  <a:effectLst>
            <a:outerShdw blurRad="60000" dist="25000" dir="5400000" rotWithShape="0">
              <a:srgbClr val="1D27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846320" y="4178808"/>
            <a:ext cx="292608" cy="292608"/>
          </a:xfrm>
          <a:prstGeom prst="ellipse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85232" y="4123944"/>
            <a:ext cx="256032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550" b="1" i="0">
                <a:solidFill>
                  <a:srgbClr val="1D3557"/>
                </a:solidFill>
                <a:latin typeface="Cambria"/>
              </a:rPr>
              <a:t>Storage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4608" y="4672584"/>
            <a:ext cx="2834640" cy="868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0" i="0">
                <a:solidFill>
                  <a:srgbClr val="5B6672"/>
                </a:solidFill>
                <a:latin typeface="Calibri"/>
              </a:rPr>
              <a:t>SQLite (standard library)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75319" y="3886200"/>
            <a:ext cx="3429000" cy="173736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  <a:effectLst>
            <a:outerShdw blurRad="60000" dist="25000" dir="5400000" rotWithShape="0">
              <a:srgbClr val="1D27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549640" y="4178808"/>
            <a:ext cx="292608" cy="292608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88551" y="4123944"/>
            <a:ext cx="256032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550" b="1" i="0">
                <a:solidFill>
                  <a:srgbClr val="1D3557"/>
                </a:solidFill>
                <a:latin typeface="Cambria"/>
              </a:rPr>
              <a:t>Testing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67928" y="4672584"/>
            <a:ext cx="2834640" cy="868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0" i="0">
                <a:solidFill>
                  <a:srgbClr val="5B6672"/>
                </a:solidFill>
                <a:latin typeface="Calibri"/>
              </a:rPr>
              <a:t>pytest — 44 tests, all passing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0080" y="566928"/>
            <a:ext cx="237744" cy="237744"/>
          </a:xfrm>
          <a:prstGeom prst="ellipse">
            <a:avLst/>
          </a:prstGeom>
          <a:solidFill>
            <a:srgbClr val="457B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457200"/>
            <a:ext cx="7315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50" b="1" i="0">
                <a:solidFill>
                  <a:srgbClr val="457B9D"/>
                </a:solidFill>
                <a:latin typeface="Calibri"/>
              </a:rPr>
              <a:t>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" y="749808"/>
            <a:ext cx="1051560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000" b="1" i="0">
                <a:solidFill>
                  <a:srgbClr val="1D3557"/>
                </a:solidFill>
                <a:latin typeface="Cambria"/>
              </a:rPr>
              <a:t>A Realistic, Reproducible Synthetic Corpus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5852160" cy="40233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marL="274320" indent="-274320">
              <a:lnSpc>
                <a:spcPct val="112000"/>
              </a:lnSpc>
              <a:spcAft>
                <a:spcPts val="1400"/>
              </a:spcAft>
              <a:buClr>
                <a:srgbClr val="457B9D"/>
              </a:buClr>
              <a:buFont typeface="Arial"/>
              <a:buChar char="•"/>
            </a:pPr>
            <a:r>
              <a:rPr sz="1650" b="0" i="0">
                <a:solidFill>
                  <a:srgbClr val="212B36"/>
                </a:solidFill>
                <a:latin typeface="Calibri"/>
              </a:rPr>
              <a:t>4,200 synthetic emails — 700 per category, perfectly balanced</a:t>
            </a:r>
          </a:p>
          <a:p>
            <a:pPr marL="274320" indent="-274320">
              <a:lnSpc>
                <a:spcPct val="112000"/>
              </a:lnSpc>
              <a:spcAft>
                <a:spcPts val="1400"/>
              </a:spcAft>
              <a:buClr>
                <a:srgbClr val="457B9D"/>
              </a:buClr>
              <a:buFont typeface="Arial"/>
              <a:buChar char="•"/>
            </a:pPr>
            <a:r>
              <a:rPr sz="1650" b="0" i="0">
                <a:solidFill>
                  <a:srgbClr val="212B36"/>
                </a:solidFill>
                <a:latin typeface="Calibri"/>
              </a:rPr>
              <a:t>Six categories with 14 × 14 templates and slot-filling</a:t>
            </a:r>
          </a:p>
          <a:p>
            <a:pPr marL="274320" indent="-274320">
              <a:lnSpc>
                <a:spcPct val="112000"/>
              </a:lnSpc>
              <a:spcAft>
                <a:spcPts val="1400"/>
              </a:spcAft>
              <a:buClr>
                <a:srgbClr val="457B9D"/>
              </a:buClr>
              <a:buFont typeface="Arial"/>
              <a:buChar char="•"/>
            </a:pPr>
            <a:r>
              <a:rPr sz="1650" b="0" i="0">
                <a:solidFill>
                  <a:srgbClr val="212B36"/>
                </a:solidFill>
                <a:latin typeface="Calibri"/>
              </a:rPr>
              <a:t>12% ambiguity borrows confusable neighbour bodies</a:t>
            </a:r>
          </a:p>
          <a:p>
            <a:pPr marL="274320" indent="-274320">
              <a:lnSpc>
                <a:spcPct val="112000"/>
              </a:lnSpc>
              <a:spcAft>
                <a:spcPts val="1400"/>
              </a:spcAft>
              <a:buClr>
                <a:srgbClr val="457B9D"/>
              </a:buClr>
              <a:buFont typeface="Arial"/>
              <a:buChar char="•"/>
            </a:pPr>
            <a:r>
              <a:rPr sz="1650" b="0" i="0">
                <a:solidFill>
                  <a:srgbClr val="212B36"/>
                </a:solidFill>
                <a:latin typeface="Calibri"/>
              </a:rPr>
              <a:t>Category-specific senders, links and attachment rates</a:t>
            </a:r>
          </a:p>
          <a:p>
            <a:pPr marL="274320" indent="-274320">
              <a:lnSpc>
                <a:spcPct val="112000"/>
              </a:lnSpc>
              <a:spcAft>
                <a:spcPts val="1400"/>
              </a:spcAft>
              <a:buClr>
                <a:srgbClr val="457B9D"/>
              </a:buClr>
              <a:buFont typeface="Arial"/>
              <a:buChar char="•"/>
            </a:pPr>
            <a:r>
              <a:rPr sz="1650" b="0" i="0">
                <a:solidFill>
                  <a:srgbClr val="212B36"/>
                </a:solidFill>
                <a:latin typeface="Calibri"/>
              </a:rPr>
              <a:t>Deterministic (seed = 42); stratified 80 / 20 split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806440"/>
            <a:ext cx="54864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400" b="1" i="0">
                <a:solidFill>
                  <a:srgbClr val="2A9D8F"/>
                </a:solidFill>
                <a:latin typeface="Calibri"/>
              </a:rPr>
              <a:t>3,360 train  ·  840 test</a:t>
            </a:r>
          </a:p>
        </p:txBody>
      </p:sp>
      <p:pic>
        <p:nvPicPr>
          <p:cNvPr id="7" name="Picture 6" descr="category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249161"/>
            <a:ext cx="4937760" cy="3365517"/>
          </a:xfrm>
          <a:prstGeom prst="rect">
            <a:avLst/>
          </a:prstGeom>
          <a:effectLst>
            <a:outerShdw blurRad="60000" dist="25000" dir="5400000" rotWithShape="0">
              <a:srgbClr val="1D2733">
                <a:alpha val="18000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0080" y="566928"/>
            <a:ext cx="237744" cy="237744"/>
          </a:xfrm>
          <a:prstGeom prst="ellipse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457200"/>
            <a:ext cx="7315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50" b="1" i="0">
                <a:solidFill>
                  <a:srgbClr val="E9C46A"/>
                </a:solidFill>
                <a:latin typeface="Calibri"/>
              </a:rPr>
              <a:t>MODEL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" y="749808"/>
            <a:ext cx="1051560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000" b="1" i="0">
                <a:solidFill>
                  <a:srgbClr val="1D3557"/>
                </a:solidFill>
                <a:latin typeface="Cambria"/>
              </a:rPr>
              <a:t>Comparing Four Classifiers, Keeping the Best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5852160" cy="40233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marL="274320" indent="-274320">
              <a:lnSpc>
                <a:spcPct val="112000"/>
              </a:lnSpc>
              <a:spcAft>
                <a:spcPts val="1400"/>
              </a:spcAft>
              <a:buClr>
                <a:srgbClr val="E9C46A"/>
              </a:buClr>
              <a:buFont typeface="Arial"/>
              <a:buChar char="•"/>
            </a:pPr>
            <a:r>
              <a:rPr sz="1650" b="0" i="0">
                <a:solidFill>
                  <a:srgbClr val="212B36"/>
                </a:solidFill>
                <a:latin typeface="Calibri"/>
              </a:rPr>
              <a:t>TF-IDF (1–2)-grams + 8 engineered numeric features</a:t>
            </a:r>
          </a:p>
          <a:p>
            <a:pPr marL="274320" indent="-274320">
              <a:lnSpc>
                <a:spcPct val="112000"/>
              </a:lnSpc>
              <a:spcAft>
                <a:spcPts val="1400"/>
              </a:spcAft>
              <a:buClr>
                <a:srgbClr val="E9C46A"/>
              </a:buClr>
              <a:buFont typeface="Arial"/>
              <a:buChar char="•"/>
            </a:pPr>
            <a:r>
              <a:rPr sz="1650" b="0" i="0">
                <a:solidFill>
                  <a:srgbClr val="212B36"/>
                </a:solidFill>
                <a:latin typeface="Calibri"/>
              </a:rPr>
              <a:t>Combined via ColumnTransformer with MaxAbsScaler</a:t>
            </a:r>
          </a:p>
          <a:p>
            <a:pPr marL="274320" indent="-274320">
              <a:lnSpc>
                <a:spcPct val="112000"/>
              </a:lnSpc>
              <a:spcAft>
                <a:spcPts val="1400"/>
              </a:spcAft>
              <a:buClr>
                <a:srgbClr val="E9C46A"/>
              </a:buClr>
              <a:buFont typeface="Arial"/>
              <a:buChar char="•"/>
            </a:pPr>
            <a:r>
              <a:rPr sz="1650" b="0" i="0">
                <a:solidFill>
                  <a:srgbClr val="212B36"/>
                </a:solidFill>
                <a:latin typeface="Calibri"/>
              </a:rPr>
              <a:t>Four models compared on the 840-email test set</a:t>
            </a:r>
          </a:p>
          <a:p>
            <a:pPr marL="274320" indent="-274320">
              <a:lnSpc>
                <a:spcPct val="112000"/>
              </a:lnSpc>
              <a:spcAft>
                <a:spcPts val="1400"/>
              </a:spcAft>
              <a:buClr>
                <a:srgbClr val="E9C46A"/>
              </a:buClr>
              <a:buFont typeface="Arial"/>
              <a:buChar char="•"/>
            </a:pPr>
            <a:r>
              <a:rPr sz="1650" b="0" i="0">
                <a:solidFill>
                  <a:srgbClr val="212B36"/>
                </a:solidFill>
                <a:latin typeface="Calibri"/>
              </a:rPr>
              <a:t>Best: Logistic Regression — F1 0.9095 / acc 0.9095</a:t>
            </a:r>
          </a:p>
          <a:p>
            <a:pPr marL="274320" indent="-274320">
              <a:lnSpc>
                <a:spcPct val="112000"/>
              </a:lnSpc>
              <a:spcAft>
                <a:spcPts val="1400"/>
              </a:spcAft>
              <a:buClr>
                <a:srgbClr val="E9C46A"/>
              </a:buClr>
              <a:buFont typeface="Arial"/>
              <a:buChar char="•"/>
            </a:pPr>
            <a:r>
              <a:rPr sz="1650" b="0" i="0">
                <a:solidFill>
                  <a:srgbClr val="212B36"/>
                </a:solidFill>
                <a:latin typeface="Calibri"/>
              </a:rPr>
              <a:t>Beat Linear SVM, Complement NB and Random Forest</a:t>
            </a:r>
          </a:p>
        </p:txBody>
      </p:sp>
      <p:pic>
        <p:nvPicPr>
          <p:cNvPr id="6" name="Picture 5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217999"/>
            <a:ext cx="5029200" cy="3427841"/>
          </a:xfrm>
          <a:prstGeom prst="rect">
            <a:avLst/>
          </a:prstGeom>
          <a:effectLst>
            <a:outerShdw blurRad="60000" dist="25000" dir="5400000" rotWithShape="0">
              <a:srgbClr val="1D2733">
                <a:alpha val="18000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0080" y="566928"/>
            <a:ext cx="237744" cy="237744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457200"/>
            <a:ext cx="7315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50" b="1" i="0">
                <a:solidFill>
                  <a:srgbClr val="E63946"/>
                </a:solidFill>
                <a:latin typeface="Calibri"/>
              </a:rPr>
              <a:t>RESULTS &amp;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" y="749808"/>
            <a:ext cx="1051560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000" b="1" i="0">
                <a:solidFill>
                  <a:srgbClr val="1D3557"/>
                </a:solidFill>
                <a:latin typeface="Cambria"/>
              </a:rPr>
              <a:t>Strong, Honest, Interpretable Performance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783080"/>
            <a:ext cx="5486400" cy="141732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  <a:effectLst>
            <a:outerShdw blurRad="60000" dist="25000" dir="5400000" rotWithShape="0">
              <a:srgbClr val="1D27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084831"/>
            <a:ext cx="1691640" cy="7132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100" b="1" i="0">
                <a:solidFill>
                  <a:srgbClr val="E63946"/>
                </a:solidFill>
                <a:latin typeface="Cambria"/>
              </a:rPr>
              <a:t>90.9%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755609"/>
            <a:ext cx="169164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0" i="0">
                <a:solidFill>
                  <a:srgbClr val="5B6672"/>
                </a:solidFill>
                <a:latin typeface="Calibri"/>
              </a:rPr>
              <a:t>test 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40" y="2084831"/>
            <a:ext cx="1371600" cy="7132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100" b="1" i="0">
                <a:solidFill>
                  <a:srgbClr val="1D3557"/>
                </a:solidFill>
                <a:latin typeface="Cambria"/>
              </a:rPr>
              <a:t>0.91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2755609"/>
            <a:ext cx="13716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0" i="0">
                <a:solidFill>
                  <a:srgbClr val="5B6672"/>
                </a:solidFill>
                <a:latin typeface="Calibri"/>
              </a:rPr>
              <a:t>macro F1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084831"/>
            <a:ext cx="1645920" cy="7132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100" b="1" i="0">
                <a:solidFill>
                  <a:srgbClr val="2A9D8F"/>
                </a:solidFill>
                <a:latin typeface="Cambria"/>
              </a:rPr>
              <a:t>+18.8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755609"/>
            <a:ext cx="164592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0" i="0">
                <a:solidFill>
                  <a:srgbClr val="5B6672"/>
                </a:solidFill>
                <a:latin typeface="Calibri"/>
              </a:rPr>
              <a:t>pts vs rules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429000"/>
            <a:ext cx="5486400" cy="29260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marL="274320" indent="-274320">
              <a:lnSpc>
                <a:spcPct val="112000"/>
              </a:lnSpc>
              <a:spcAft>
                <a:spcPts val="1200"/>
              </a:spcAft>
              <a:buClr>
                <a:srgbClr val="E63946"/>
              </a:buClr>
              <a:buFont typeface="Arial"/>
              <a:buChar char="•"/>
            </a:pPr>
            <a:r>
              <a:rPr sz="1450" b="0" i="0">
                <a:solidFill>
                  <a:srgbClr val="212B36"/>
                </a:solidFill>
                <a:latin typeface="Calibri"/>
              </a:rPr>
              <a:t>Per-class F1 from 0.898 (Work) to 0.919 (Personal)</a:t>
            </a:r>
          </a:p>
          <a:p>
            <a:pPr marL="274320" indent="-274320">
              <a:lnSpc>
                <a:spcPct val="112000"/>
              </a:lnSpc>
              <a:spcAft>
                <a:spcPts val="1200"/>
              </a:spcAft>
              <a:buClr>
                <a:srgbClr val="E63946"/>
              </a:buClr>
              <a:buFont typeface="Arial"/>
              <a:buChar char="•"/>
            </a:pPr>
            <a:r>
              <a:rPr sz="1450" b="0" i="0">
                <a:solidFill>
                  <a:srgbClr val="212B36"/>
                </a:solidFill>
                <a:latin typeface="Calibri"/>
              </a:rPr>
              <a:t>Errors cluster on overlapping pairs: Work↔Important, Promotions↔Spam</a:t>
            </a:r>
          </a:p>
          <a:p>
            <a:pPr marL="274320" indent="-274320">
              <a:lnSpc>
                <a:spcPct val="112000"/>
              </a:lnSpc>
              <a:spcAft>
                <a:spcPts val="1200"/>
              </a:spcAft>
              <a:buClr>
                <a:srgbClr val="E63946"/>
              </a:buClr>
              <a:buFont typeface="Arial"/>
              <a:buChar char="•"/>
            </a:pPr>
            <a:r>
              <a:rPr sz="1450" b="0" i="0">
                <a:solidFill>
                  <a:srgbClr val="212B36"/>
                </a:solidFill>
                <a:latin typeface="Calibri"/>
              </a:rPr>
              <a:t>Rule-based baseline 72.1% → 67.5% relative error reduction</a:t>
            </a:r>
          </a:p>
          <a:p>
            <a:pPr marL="274320" indent="-274320">
              <a:lnSpc>
                <a:spcPct val="112000"/>
              </a:lnSpc>
              <a:spcAft>
                <a:spcPts val="1200"/>
              </a:spcAft>
              <a:buClr>
                <a:srgbClr val="E63946"/>
              </a:buClr>
              <a:buFont typeface="Arial"/>
              <a:buChar char="•"/>
            </a:pPr>
            <a:r>
              <a:rPr sz="1450" b="0" i="0">
                <a:solidFill>
                  <a:srgbClr val="212B36"/>
                </a:solidFill>
                <a:latin typeface="Calibri"/>
              </a:rPr>
              <a:t>Rules cannot prioritise, learn, summarise or suggest actions</a:t>
            </a:r>
          </a:p>
        </p:txBody>
      </p:sp>
      <p:pic>
        <p:nvPicPr>
          <p:cNvPr id="13" name="Picture 12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791772"/>
            <a:ext cx="5212080" cy="4554614"/>
          </a:xfrm>
          <a:prstGeom prst="rect">
            <a:avLst/>
          </a:prstGeom>
          <a:effectLst>
            <a:outerShdw blurRad="60000" dist="25000" dir="5400000" rotWithShape="0">
              <a:srgbClr val="1D2733">
                <a:alpha val="18000"/>
              </a:srgb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0080" y="566928"/>
            <a:ext cx="237744" cy="237744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457200"/>
            <a:ext cx="7315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Calibri"/>
              </a:rPr>
              <a:t>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" y="749808"/>
            <a:ext cx="1051560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000" b="1" i="0">
                <a:solidFill>
                  <a:srgbClr val="1D3557"/>
                </a:solidFill>
                <a:latin typeface="Cambria"/>
              </a:rPr>
              <a:t>The Working Streamlit Dashboard</a:t>
            </a:r>
          </a:p>
        </p:txBody>
      </p:sp>
      <p:pic>
        <p:nvPicPr>
          <p:cNvPr id="5" name="Picture 4" descr="dashboard_inb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7297" y="1600200"/>
            <a:ext cx="6943725" cy="4937760"/>
          </a:xfrm>
          <a:prstGeom prst="rect">
            <a:avLst/>
          </a:prstGeom>
          <a:effectLst>
            <a:outerShdw blurRad="60000" dist="25000" dir="5400000" rotWithShape="0">
              <a:srgbClr val="1D2733">
                <a:alpha val="18000"/>
              </a:srgbClr>
            </a:outerShdw>
          </a:effectLst>
        </p:spPr>
      </p:pic>
      <p:sp>
        <p:nvSpPr>
          <p:cNvPr id="6" name="Rounded Rectangle 5"/>
          <p:cNvSpPr/>
          <p:nvPr/>
        </p:nvSpPr>
        <p:spPr>
          <a:xfrm>
            <a:off x="8915400" y="1691640"/>
            <a:ext cx="2788920" cy="466344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  <a:effectLst>
            <a:outerShdw blurRad="60000" dist="25000" dir="5400000" rotWithShape="0">
              <a:srgbClr val="1D27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0" y="1874519"/>
            <a:ext cx="23774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600" b="1" i="0">
                <a:solidFill>
                  <a:srgbClr val="1D3557"/>
                </a:solidFill>
                <a:latin typeface="Cambria"/>
              </a:rPr>
              <a:t>Live inbox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2377440"/>
            <a:ext cx="2468880" cy="3657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marL="274320" indent="-274320">
              <a:lnSpc>
                <a:spcPct val="112000"/>
              </a:lnSpc>
              <a:spcAft>
                <a:spcPts val="1000"/>
              </a:spcAft>
              <a:buClr>
                <a:srgbClr val="2A9D8F"/>
              </a:buClr>
              <a:buFont typeface="Arial"/>
              <a:buChar char="•"/>
            </a:pPr>
            <a:r>
              <a:rPr sz="1250" b="0" i="0">
                <a:solidFill>
                  <a:srgbClr val="212B36"/>
                </a:solidFill>
                <a:latin typeface="Calibri"/>
              </a:rPr>
              <a:t>Sorted by priority score</a:t>
            </a:r>
          </a:p>
          <a:p>
            <a:pPr marL="274320" indent="-274320">
              <a:lnSpc>
                <a:spcPct val="112000"/>
              </a:lnSpc>
              <a:spcAft>
                <a:spcPts val="1000"/>
              </a:spcAft>
              <a:buClr>
                <a:srgbClr val="2A9D8F"/>
              </a:buClr>
              <a:buFont typeface="Arial"/>
              <a:buChar char="•"/>
            </a:pPr>
            <a:r>
              <a:rPr sz="1250" b="0" i="0">
                <a:solidFill>
                  <a:srgbClr val="212B36"/>
                </a:solidFill>
                <a:latin typeface="Calibri"/>
              </a:rPr>
              <a:t>Critical / High / Medium / Low bands</a:t>
            </a:r>
          </a:p>
          <a:p>
            <a:pPr marL="274320" indent="-274320">
              <a:lnSpc>
                <a:spcPct val="112000"/>
              </a:lnSpc>
              <a:spcAft>
                <a:spcPts val="1000"/>
              </a:spcAft>
              <a:buClr>
                <a:srgbClr val="2A9D8F"/>
              </a:buClr>
              <a:buFont typeface="Arial"/>
              <a:buChar char="•"/>
            </a:pPr>
            <a:r>
              <a:rPr sz="1250" b="0" i="0">
                <a:solidFill>
                  <a:srgbClr val="212B36"/>
                </a:solidFill>
                <a:latin typeface="Calibri"/>
              </a:rPr>
              <a:t>Category, urgency &amp; intent per email</a:t>
            </a:r>
          </a:p>
          <a:p>
            <a:pPr marL="274320" indent="-274320">
              <a:lnSpc>
                <a:spcPct val="112000"/>
              </a:lnSpc>
              <a:spcAft>
                <a:spcPts val="1000"/>
              </a:spcAft>
              <a:buClr>
                <a:srgbClr val="2A9D8F"/>
              </a:buClr>
              <a:buFont typeface="Arial"/>
              <a:buChar char="•"/>
            </a:pPr>
            <a:r>
              <a:rPr sz="1250" b="0" i="0">
                <a:solidFill>
                  <a:srgbClr val="212B36"/>
                </a:solidFill>
                <a:latin typeface="Calibri"/>
              </a:rPr>
              <a:t>One-click suggested actions</a:t>
            </a:r>
          </a:p>
          <a:p>
            <a:pPr marL="274320" indent="-274320">
              <a:lnSpc>
                <a:spcPct val="112000"/>
              </a:lnSpc>
              <a:spcAft>
                <a:spcPts val="1000"/>
              </a:spcAft>
              <a:buClr>
                <a:srgbClr val="2A9D8F"/>
              </a:buClr>
              <a:buFont typeface="Arial"/>
              <a:buChar char="•"/>
            </a:pPr>
            <a:r>
              <a:rPr sz="1250" b="0" i="0">
                <a:solidFill>
                  <a:srgbClr val="212B36"/>
                </a:solidFill>
                <a:latin typeface="Calibri"/>
              </a:rPr>
              <a:t>Outage → Important, High (79.1)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448495" y="-1371600"/>
            <a:ext cx="3840480" cy="3840480"/>
          </a:xfrm>
          <a:prstGeom prst="ellipse">
            <a:avLst/>
          </a:prstGeom>
          <a:solidFill>
            <a:srgbClr val="2A9D8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4480560"/>
            <a:ext cx="3657600" cy="3657600"/>
          </a:xfrm>
          <a:prstGeom prst="ellipse">
            <a:avLst/>
          </a:prstGeom>
          <a:solidFill>
            <a:srgbClr val="E63946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100584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1" i="0">
                <a:solidFill>
                  <a:srgbClr val="E9C46A"/>
                </a:solidFill>
                <a:latin typeface="Calibri"/>
              </a:rPr>
              <a:t>FUTURE SCOPE &amp;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51560"/>
            <a:ext cx="1033272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mbria"/>
              </a:rPr>
              <a:t>From a Flat Inbox to an Intelligent Assistant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10424160" cy="23774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marL="274320" indent="-274320">
              <a:lnSpc>
                <a:spcPct val="112000"/>
              </a:lnSpc>
              <a:spcAft>
                <a:spcPts val="1600"/>
              </a:spcAft>
              <a:buClr>
                <a:srgbClr val="E9C46A"/>
              </a:buClr>
              <a:buFont typeface="Arial"/>
              <a:buChar char="•"/>
            </a:pPr>
            <a:r>
              <a:rPr sz="1800" b="0" i="0">
                <a:solidFill>
                  <a:srgbClr val="CADCFC"/>
                </a:solidFill>
                <a:latin typeface="Calibri"/>
              </a:rPr>
              <a:t>Live mailbox integration via IMAP / Gmail &amp; Microsoft Graph</a:t>
            </a:r>
          </a:p>
          <a:p>
            <a:pPr marL="274320" indent="-274320">
              <a:lnSpc>
                <a:spcPct val="112000"/>
              </a:lnSpc>
              <a:spcAft>
                <a:spcPts val="1600"/>
              </a:spcAft>
              <a:buClr>
                <a:srgbClr val="E9C46A"/>
              </a:buClr>
              <a:buFont typeface="Arial"/>
              <a:buChar char="•"/>
            </a:pPr>
            <a:r>
              <a:rPr sz="1800" b="0" i="0">
                <a:solidFill>
                  <a:srgbClr val="CADCFC"/>
                </a:solidFill>
                <a:latin typeface="Calibri"/>
              </a:rPr>
              <a:t>Transformer embeddings (BERT) behind the existing feature interface</a:t>
            </a:r>
          </a:p>
          <a:p>
            <a:pPr marL="274320" indent="-274320">
              <a:lnSpc>
                <a:spcPct val="112000"/>
              </a:lnSpc>
              <a:spcAft>
                <a:spcPts val="1600"/>
              </a:spcAft>
              <a:buClr>
                <a:srgbClr val="E9C46A"/>
              </a:buClr>
              <a:buFont typeface="Arial"/>
              <a:buChar char="•"/>
            </a:pPr>
            <a:r>
              <a:rPr sz="1800" b="0" i="0">
                <a:solidFill>
                  <a:srgbClr val="CADCFC"/>
                </a:solidFill>
                <a:latin typeface="Calibri"/>
              </a:rPr>
              <a:t>Generative AI for context-aware reply drafting</a:t>
            </a:r>
          </a:p>
          <a:p>
            <a:pPr marL="274320" indent="-274320">
              <a:lnSpc>
                <a:spcPct val="112000"/>
              </a:lnSpc>
              <a:spcAft>
                <a:spcPts val="1600"/>
              </a:spcAft>
              <a:buClr>
                <a:srgbClr val="E9C46A"/>
              </a:buClr>
              <a:buFont typeface="Arial"/>
              <a:buChar char="•"/>
            </a:pPr>
            <a:r>
              <a:rPr sz="1800" b="0" i="0">
                <a:solidFill>
                  <a:srgbClr val="CADCFC"/>
                </a:solidFill>
                <a:latin typeface="Calibri"/>
              </a:rPr>
              <a:t>Per-user online learning and multilingual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892040"/>
            <a:ext cx="10424160" cy="1005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600" b="0" i="1">
                <a:solidFill>
                  <a:srgbClr val="FFFFFF"/>
                </a:solidFill>
                <a:latin typeface="Cambria"/>
              </a:rPr>
              <a:t>MailMind AI turns a noisy, flat inbox into a prioritised, self-organising assistant — classifying, summarising and acting on email with 91% accuracy.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989320"/>
            <a:ext cx="1042416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500" b="1" i="0">
                <a:solidFill>
                  <a:srgbClr val="E9C46A"/>
                </a:solidFill>
                <a:latin typeface="Calibri"/>
              </a:rPr>
              <a:t>Thank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